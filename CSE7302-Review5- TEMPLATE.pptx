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9" r:id="rId3"/>
    <p:sldId id="257" r:id="rId4"/>
    <p:sldId id="280" r:id="rId5"/>
    <p:sldId id="275" r:id="rId6"/>
    <p:sldId id="273" r:id="rId7"/>
    <p:sldId id="272" r:id="rId8"/>
    <p:sldId id="276" r:id="rId9"/>
    <p:sldId id="268" r:id="rId10"/>
    <p:sldId id="277" r:id="rId11"/>
    <p:sldId id="283" r:id="rId12"/>
    <p:sldId id="281" r:id="rId13"/>
    <p:sldId id="282" r:id="rId14"/>
    <p:sldId id="284" r:id="rId15"/>
    <p:sldId id="279" r:id="rId16"/>
    <p:sldId id="265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951651-7879-407E-8A2E-DA90B24BF6F6}" v="34" dt="2026-01-10T05:11:25.738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5CB959C-41F8-77B1-490A-BB1FCBEE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67404E8-812D-1701-CD1D-7B09B95AF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FF3D8BC-E5EE-87F6-E566-BA6EF9735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5524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038331" y="92267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Identification of URL based attacks from IP data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1885570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Number : CSE_98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353842" y="2324099"/>
            <a:ext cx="5514300" cy="238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Under the Supervision of,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GB" sz="1800" b="1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IN" sz="20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Jayachandran A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   Professor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School of Computer Science and Engineering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Presidency University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52745504"/>
              </p:ext>
            </p:extLst>
          </p:nvPr>
        </p:nvGraphicFramePr>
        <p:xfrm>
          <a:off x="553394" y="2292150"/>
          <a:ext cx="5418675" cy="2416514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664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74849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University Project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Program: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 .Blessed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Mr.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Muthuraju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50C6B0-56F6-59B3-9E2B-70DABCB37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08293"/>
              </p:ext>
            </p:extLst>
          </p:nvPr>
        </p:nvGraphicFramePr>
        <p:xfrm>
          <a:off x="771910" y="2750572"/>
          <a:ext cx="4981642" cy="1767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478899">
                  <a:extLst>
                    <a:ext uri="{9D8B030D-6E8A-4147-A177-3AD203B41FA5}">
                      <a16:colId xmlns:a16="http://schemas.microsoft.com/office/drawing/2014/main" val="2233802050"/>
                    </a:ext>
                  </a:extLst>
                </a:gridCol>
                <a:gridCol w="2502743">
                  <a:extLst>
                    <a:ext uri="{9D8B030D-6E8A-4147-A177-3AD203B41FA5}">
                      <a16:colId xmlns:a16="http://schemas.microsoft.com/office/drawing/2014/main" val="3983810530"/>
                    </a:ext>
                  </a:extLst>
                </a:gridCol>
              </a:tblGrid>
              <a:tr h="3617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20221CSE0199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Karnatakam Manohith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514758"/>
                  </a:ext>
                </a:extLst>
              </a:tr>
              <a:tr h="510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20221CSE0245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Vaddireddy Sivananda Reddy</a:t>
                      </a:r>
                      <a:endParaRPr lang="en-IN" b="1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40864"/>
                  </a:ext>
                </a:extLst>
              </a:tr>
              <a:tr h="3617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20221CSE0221</a:t>
                      </a:r>
                      <a:endParaRPr lang="en-IN" b="1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Palem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Sreedhar Rao</a:t>
                      </a:r>
                      <a:endParaRPr lang="en-IN" b="1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9915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internet usage has increased URL-based cyber attacks.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Increased online activity has led to a rise in malicious URL attacks.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systems fail to detect dynamic and obfuscated URLs.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Existing methods are ineffective against modern, hidden attack patterns.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deep learning to classify URLs as benign or malicious.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Deep learning models are applied to accurately classify URLs.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is provided through a web-based interface.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system offers instant URL analysis using a web application.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enables automatic feature learning from raw URL data.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model learns complex patterns without manual rule definition.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proactive cybersecurity defense mechanisms.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Early detection helps prevent potential cyber threats.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(IEEE Indexed)</a:t>
            </a:r>
            <a:endParaRPr lang="en-IN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57436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E617EC-FA43-8A32-E7FB-D0ED65DAE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009123"/>
              </p:ext>
            </p:extLst>
          </p:nvPr>
        </p:nvGraphicFramePr>
        <p:xfrm>
          <a:off x="639096" y="1157434"/>
          <a:ext cx="10733753" cy="4981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2589">
                  <a:extLst>
                    <a:ext uri="{9D8B030D-6E8A-4147-A177-3AD203B41FA5}">
                      <a16:colId xmlns:a16="http://schemas.microsoft.com/office/drawing/2014/main" val="2056693294"/>
                    </a:ext>
                  </a:extLst>
                </a:gridCol>
                <a:gridCol w="1522589">
                  <a:extLst>
                    <a:ext uri="{9D8B030D-6E8A-4147-A177-3AD203B41FA5}">
                      <a16:colId xmlns:a16="http://schemas.microsoft.com/office/drawing/2014/main" val="1023410826"/>
                    </a:ext>
                  </a:extLst>
                </a:gridCol>
                <a:gridCol w="2278276">
                  <a:extLst>
                    <a:ext uri="{9D8B030D-6E8A-4147-A177-3AD203B41FA5}">
                      <a16:colId xmlns:a16="http://schemas.microsoft.com/office/drawing/2014/main" val="3036415390"/>
                    </a:ext>
                  </a:extLst>
                </a:gridCol>
                <a:gridCol w="1894507">
                  <a:extLst>
                    <a:ext uri="{9D8B030D-6E8A-4147-A177-3AD203B41FA5}">
                      <a16:colId xmlns:a16="http://schemas.microsoft.com/office/drawing/2014/main" val="767681056"/>
                    </a:ext>
                  </a:extLst>
                </a:gridCol>
                <a:gridCol w="1757896">
                  <a:extLst>
                    <a:ext uri="{9D8B030D-6E8A-4147-A177-3AD203B41FA5}">
                      <a16:colId xmlns:a16="http://schemas.microsoft.com/office/drawing/2014/main" val="3197178474"/>
                    </a:ext>
                  </a:extLst>
                </a:gridCol>
                <a:gridCol w="1757896">
                  <a:extLst>
                    <a:ext uri="{9D8B030D-6E8A-4147-A177-3AD203B41FA5}">
                      <a16:colId xmlns:a16="http://schemas.microsoft.com/office/drawing/2014/main" val="3367456237"/>
                    </a:ext>
                  </a:extLst>
                </a:gridCol>
              </a:tblGrid>
              <a:tr h="696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Authors (Year)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Malware / Attack Category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Features Used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Learning Model Used / Developed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Performance Metrics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Accuracy (%)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482520"/>
                  </a:ext>
                </a:extLst>
              </a:tr>
              <a:tr h="696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0" dirty="0"/>
                        <a:t>Said Y.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Phishing Websites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URL lexical features, webpage content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 with Attention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Accuracy, Precision, Recall, 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98.2%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395997"/>
                  </a:ext>
                </a:extLst>
              </a:tr>
              <a:tr h="696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Adebowale M.A.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Phishing URLs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Lexical URL features, domain-based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/>
                        <a:t>Deep Neural Network (DNN),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Accuracy, Precision,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97.6%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309254"/>
                  </a:ext>
                </a:extLst>
              </a:tr>
              <a:tr h="696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Atrees M.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Malicious URLs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Lexical URL features (length, tokens, special characters)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Boosting-based ML models (XGBoost)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Accuracy, Detection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96.1%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47242"/>
                  </a:ext>
                </a:extLst>
              </a:tr>
              <a:tr h="696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0"/>
                        <a:t>Wang W.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Malicious URLs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Hybrid features (lexical + host-based)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Forest, 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Accuracy, False Positive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95.4%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82872"/>
                  </a:ext>
                </a:extLst>
              </a:tr>
              <a:tr h="696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0"/>
                        <a:t>Yerima S.Y.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Phishing URLs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Character-level URL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Convolutional Neural Network (CNN)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Accuracy, 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98.0%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956493"/>
                  </a:ext>
                </a:extLst>
              </a:tr>
              <a:tr h="696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0" dirty="0"/>
                        <a:t>Ma J. et al.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Malicious URLs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Lexical and host-based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SVM, Naïve 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Accuracy, False Positive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94.3%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5516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8EE5-0BFB-B555-43CC-C5C4CDAF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(IEEE Indexed)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AA4C6-51D9-AC16-004F-7A2F88BA0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799" y="1143001"/>
            <a:ext cx="11425084" cy="5110182"/>
          </a:xfrm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5E0132-8042-59C3-D571-50086DF3C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986621"/>
              </p:ext>
            </p:extLst>
          </p:nvPr>
        </p:nvGraphicFramePr>
        <p:xfrm>
          <a:off x="812799" y="1143001"/>
          <a:ext cx="10668000" cy="47071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30519617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58156582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7146278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72821576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41360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862728382"/>
                    </a:ext>
                  </a:extLst>
                </a:gridCol>
              </a:tblGrid>
              <a:tr h="941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Authors (Year)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Malware / Attack Category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Features Used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Learning Model Used / Developed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Performance Metrics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1" dirty="0"/>
                        <a:t>Accuracy (%)</a:t>
                      </a: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491859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 dirty="0"/>
                        <a:t>Le A.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Malicious URLs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Raw URL strings (character-level)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End-to-End Deep Learning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Accuracy,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97.1%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789989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Xiao X.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Phishing URLs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URL tokens, lexical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 with Self-Attention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Precision, Recall, 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98.5%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78061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Rao R.S.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Attacks (Phishing, Malware, Benign)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URL features, IP-based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 Learning Model (ANN)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Accuracy, Precision,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96.8%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530216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Sahoo D. et al.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Phishing Attacks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Survey of URL, content, and host-based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Survey (No model implementation)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Applicable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9</a:t>
                      </a:r>
                      <a:r>
                        <a:rPr lang="en-IN" b="0" dirty="0"/>
                        <a:t>8.8%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984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484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1018811-206F-3714-29B4-FF81EEF5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5C0167B-480B-0C94-7184-C7FF3870A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A21B3EC6-3B2C-8A67-FCAB-767272F1C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9448" y="987878"/>
            <a:ext cx="10294358" cy="579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malicious URLs using deep learning techniques.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system aims to detect harmful URLs using neural networks.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URLs into phishing, malware, spam, defacement, and benign.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URLs are categorized into multiple attack types for better analysis.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detection accuracy and reduce false positives.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model focuses on reliable detection with fewer incorrect alerts.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early detection of URL-based attacks.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system aims to identify threats before they cause damage.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automated URL security analysis.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Manual inspection is eliminated through automated deep learning models.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web and network security.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project strengthens protection against malicious web activities.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190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and Drawbacks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62000" y="868679"/>
            <a:ext cx="10668000" cy="4531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Blacklist-based filtering and rule-based systems.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Traditional systems rely on predefined rules and known malicious URLs.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algorithms like SVM and Naïve Bayes.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Earlier solutions used basic machine learning classifiers.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 poor zero-day detection and high false positives.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These methods fail to detect new attacks and generate incorrect alerts.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detection techniques.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These methods detect attacks only if their signatures are already known.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Heuristic-based URL analysis.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Uses manually crafted rules which are difficult to update for new threats.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manual feature engineering.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Requires expert knowledge and does not scale well for large datasets.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adaptability to evolving attack patterns.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Traditional systems cannot automatically learn new attack behaviors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&amp; Feasibility Study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r>
              <a:rPr lang="en-US" b="1" dirty="0"/>
              <a:t>Feature extraction from URLs and IP-related data.</a:t>
            </a:r>
            <a:br>
              <a:rPr lang="en-US" dirty="0"/>
            </a:br>
            <a:r>
              <a:rPr lang="en-US" dirty="0"/>
              <a:t>→ Important spatial and structural patterns are extracted from URL strings and IP features.</a:t>
            </a:r>
          </a:p>
          <a:p>
            <a:r>
              <a:rPr lang="en-US" b="1" dirty="0"/>
              <a:t>CNN-based deep learning classification model.</a:t>
            </a:r>
            <a:br>
              <a:rPr lang="en-US" dirty="0"/>
            </a:br>
            <a:r>
              <a:rPr lang="en-US" dirty="0"/>
              <a:t>→ A Convolutional Neural Network (CNN) is used to automatically learn local patterns from URL character sequences and IP data.</a:t>
            </a:r>
          </a:p>
          <a:p>
            <a:r>
              <a:rPr lang="en-US" b="1" dirty="0"/>
              <a:t>Technically feasible using open-source frameworks.</a:t>
            </a:r>
            <a:br>
              <a:rPr lang="en-US" dirty="0"/>
            </a:br>
            <a:r>
              <a:rPr lang="en-US" dirty="0"/>
              <a:t>→ Can be implemented using TensorFlow / </a:t>
            </a:r>
            <a:r>
              <a:rPr lang="en-US" dirty="0" err="1"/>
              <a:t>Keras</a:t>
            </a:r>
            <a:r>
              <a:rPr lang="en-US" dirty="0"/>
              <a:t> /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  <a:p>
            <a:r>
              <a:rPr lang="en-US" b="1" dirty="0"/>
              <a:t>Low cost and minimal hardware requirement.</a:t>
            </a:r>
            <a:br>
              <a:rPr lang="en-US" dirty="0"/>
            </a:br>
            <a:r>
              <a:rPr lang="en-US" dirty="0"/>
              <a:t>→ CNN for URL classification works efficiently on standard systems without high-end GPUs.</a:t>
            </a:r>
          </a:p>
          <a:p>
            <a:r>
              <a:rPr lang="en-US" b="1" dirty="0"/>
              <a:t>LSTM-based deep learning classification model.</a:t>
            </a:r>
            <a:br>
              <a:rPr lang="en-US" dirty="0"/>
            </a:br>
            <a:r>
              <a:rPr lang="en-US" dirty="0"/>
              <a:t>→ A Long Short-Term Memory (LSTM) network is used to analyze sequential dependencies in URL characters and tokens.</a:t>
            </a:r>
          </a:p>
          <a:p>
            <a:r>
              <a:rPr lang="en-US" b="1" dirty="0"/>
              <a:t>Moderate hardware requirement.</a:t>
            </a:r>
            <a:br>
              <a:rPr lang="en-US" dirty="0"/>
            </a:br>
            <a:r>
              <a:rPr lang="en-US"/>
              <a:t>→ LSTM requires slightly more computational time than CNN due to sequential processing but runs on standard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0236B-03BA-7A44-1983-6D79199F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97259-C99A-74AD-43F1-BE0DFB8A5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9D74B974-312D-AD7E-0BC2-234F4AFCE169}"/>
              </a:ext>
            </a:extLst>
          </p:cNvPr>
          <p:cNvSpPr/>
          <p:nvPr/>
        </p:nvSpPr>
        <p:spPr>
          <a:xfrm>
            <a:off x="1661160" y="2893423"/>
            <a:ext cx="20116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User Interface</a:t>
            </a:r>
          </a:p>
          <a:p>
            <a:r>
              <a:t>(Web Browser)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831DBBBA-7277-96BA-3F20-1CAF0CBEAB01}"/>
              </a:ext>
            </a:extLst>
          </p:cNvPr>
          <p:cNvSpPr/>
          <p:nvPr/>
        </p:nvSpPr>
        <p:spPr>
          <a:xfrm>
            <a:off x="3947160" y="2893423"/>
            <a:ext cx="20116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Flask Backend API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B804D053-3FA9-532B-50F0-5A2F5DDCD0D1}"/>
              </a:ext>
            </a:extLst>
          </p:cNvPr>
          <p:cNvSpPr/>
          <p:nvPr/>
        </p:nvSpPr>
        <p:spPr>
          <a:xfrm>
            <a:off x="6233160" y="2893423"/>
            <a:ext cx="20116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Feature Extraction</a:t>
            </a:r>
          </a:p>
          <a:p>
            <a:r>
              <a:t>Module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A384A8C3-1397-2698-DF40-5F762BF907B5}"/>
              </a:ext>
            </a:extLst>
          </p:cNvPr>
          <p:cNvSpPr/>
          <p:nvPr/>
        </p:nvSpPr>
        <p:spPr>
          <a:xfrm>
            <a:off x="8519160" y="2893423"/>
            <a:ext cx="20116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Deep Learning</a:t>
            </a:r>
          </a:p>
          <a:p>
            <a:r>
              <a:t>Model (ANN)</a:t>
            </a:r>
          </a:p>
        </p:txBody>
      </p:sp>
    </p:spTree>
    <p:extLst>
      <p:ext uri="{BB962C8B-B14F-4D97-AF65-F5344CB8AC3E}">
        <p14:creationId xmlns:p14="http://schemas.microsoft.com/office/powerpoint/2010/main" val="1399584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– URL Attack Detection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566400" cy="544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Process 2">
            <a:extLst>
              <a:ext uri="{FF2B5EF4-FFF2-40B4-BE49-F238E27FC236}">
                <a16:creationId xmlns:a16="http://schemas.microsoft.com/office/drawing/2014/main" id="{C845D3A7-6A0A-1BE0-FE34-A02B98C7EBFB}"/>
              </a:ext>
            </a:extLst>
          </p:cNvPr>
          <p:cNvSpPr/>
          <p:nvPr/>
        </p:nvSpPr>
        <p:spPr>
          <a:xfrm>
            <a:off x="3238137" y="971092"/>
            <a:ext cx="837473" cy="8113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Start</a:t>
            </a:r>
          </a:p>
        </p:txBody>
      </p:sp>
      <p:sp>
        <p:nvSpPr>
          <p:cNvPr id="3" name="Process 3">
            <a:extLst>
              <a:ext uri="{FF2B5EF4-FFF2-40B4-BE49-F238E27FC236}">
                <a16:creationId xmlns:a16="http://schemas.microsoft.com/office/drawing/2014/main" id="{FFEA2F0A-87E7-FDD9-4B54-B2EBB68B34E8}"/>
              </a:ext>
            </a:extLst>
          </p:cNvPr>
          <p:cNvSpPr/>
          <p:nvPr/>
        </p:nvSpPr>
        <p:spPr>
          <a:xfrm>
            <a:off x="3232324" y="1866942"/>
            <a:ext cx="1492075" cy="1036002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Enter URL</a:t>
            </a:r>
          </a:p>
        </p:txBody>
      </p:sp>
      <p:sp>
        <p:nvSpPr>
          <p:cNvPr id="6" name="Process 4">
            <a:extLst>
              <a:ext uri="{FF2B5EF4-FFF2-40B4-BE49-F238E27FC236}">
                <a16:creationId xmlns:a16="http://schemas.microsoft.com/office/drawing/2014/main" id="{CB48A30A-B4D4-0F00-7F9A-D58208E5797A}"/>
              </a:ext>
            </a:extLst>
          </p:cNvPr>
          <p:cNvSpPr/>
          <p:nvPr/>
        </p:nvSpPr>
        <p:spPr>
          <a:xfrm>
            <a:off x="3190235" y="2987494"/>
            <a:ext cx="2447109" cy="1036002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Extract URL &amp; IP Features</a:t>
            </a:r>
          </a:p>
        </p:txBody>
      </p:sp>
      <p:sp>
        <p:nvSpPr>
          <p:cNvPr id="7" name="Process 5">
            <a:extLst>
              <a:ext uri="{FF2B5EF4-FFF2-40B4-BE49-F238E27FC236}">
                <a16:creationId xmlns:a16="http://schemas.microsoft.com/office/drawing/2014/main" id="{B37D2469-DD4C-2CCF-6517-984835B8C258}"/>
              </a:ext>
            </a:extLst>
          </p:cNvPr>
          <p:cNvSpPr/>
          <p:nvPr/>
        </p:nvSpPr>
        <p:spPr>
          <a:xfrm>
            <a:off x="3185877" y="4128863"/>
            <a:ext cx="2447109" cy="1036002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Deep Learning Classification</a:t>
            </a:r>
          </a:p>
        </p:txBody>
      </p:sp>
      <p:sp>
        <p:nvSpPr>
          <p:cNvPr id="8" name="Process 6">
            <a:extLst>
              <a:ext uri="{FF2B5EF4-FFF2-40B4-BE49-F238E27FC236}">
                <a16:creationId xmlns:a16="http://schemas.microsoft.com/office/drawing/2014/main" id="{0D6A2E53-6171-7743-518E-11D81E712F31}"/>
              </a:ext>
            </a:extLst>
          </p:cNvPr>
          <p:cNvSpPr/>
          <p:nvPr/>
        </p:nvSpPr>
        <p:spPr>
          <a:xfrm>
            <a:off x="3185876" y="5228598"/>
            <a:ext cx="2447109" cy="1036002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Benign / Attack Type</a:t>
            </a:r>
          </a:p>
        </p:txBody>
      </p:sp>
      <p:sp>
        <p:nvSpPr>
          <p:cNvPr id="9" name="Process 7">
            <a:extLst>
              <a:ext uri="{FF2B5EF4-FFF2-40B4-BE49-F238E27FC236}">
                <a16:creationId xmlns:a16="http://schemas.microsoft.com/office/drawing/2014/main" id="{EE8D1ED8-C3F5-518B-71A1-FC5D392FC394}"/>
              </a:ext>
            </a:extLst>
          </p:cNvPr>
          <p:cNvSpPr/>
          <p:nvPr/>
        </p:nvSpPr>
        <p:spPr>
          <a:xfrm>
            <a:off x="5900054" y="5196840"/>
            <a:ext cx="2447109" cy="1036002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Display Result</a:t>
            </a:r>
          </a:p>
        </p:txBody>
      </p:sp>
      <p:sp>
        <p:nvSpPr>
          <p:cNvPr id="10" name="Process 8">
            <a:extLst>
              <a:ext uri="{FF2B5EF4-FFF2-40B4-BE49-F238E27FC236}">
                <a16:creationId xmlns:a16="http://schemas.microsoft.com/office/drawing/2014/main" id="{E4BF619D-F7BB-25BE-E056-B120BB00D690}"/>
              </a:ext>
            </a:extLst>
          </p:cNvPr>
          <p:cNvSpPr/>
          <p:nvPr/>
        </p:nvSpPr>
        <p:spPr>
          <a:xfrm>
            <a:off x="8779691" y="5196840"/>
            <a:ext cx="2447109" cy="1036002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DDDC-28AF-25B8-A02C-4EEDE01CB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(Gantt Chart)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CCFC-6B8F-2B9B-04C1-D9A13F945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43056A-7159-B38E-C9B3-D2A7302C2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8" y="1927122"/>
            <a:ext cx="9576620" cy="387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70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3871-2A23-D755-5AD4-80F4863D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3674A-1451-150A-4344-74C240CFA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6451B9-1071-391C-0F34-33CA09026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75" y="1143001"/>
            <a:ext cx="10234049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43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5176-FBA4-0747-0DA1-43F680614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3F60A-22B7-52D4-7FC9-34FB67B5F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A5F0F2-C2CC-0052-EAD9-D7BC66468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13" y="1143001"/>
            <a:ext cx="10294374" cy="496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63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D236-AA54-427B-C644-70A51D61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27FFA-B810-CBB8-EC15-699B72A12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590912-4976-130A-91D7-03C80E62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923575"/>
            <a:ext cx="10631384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31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27DF-E839-915C-9063-F685343CF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8E8A7-1A6B-E171-7065-667114770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683F0-ED54-F896-510C-3DEC56695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852" y="1539531"/>
            <a:ext cx="5324531" cy="455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80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4F67-D288-ADFA-EA3E-C89494BCA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C97AB-8449-71B0-82F3-3BF911C1F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improves accuracy in URL attack detection.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Neural networks provide better detection than traditional methods.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effectively classifies multiple attack types.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model successfully identifies different malicious categories.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cybersecurity applications.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system can be deployed for real-time security monitoring.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ANN-based model outperforms traditional methods.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Achieves better accuracy and lower false positives.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interface improves usability.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Makes the system accessible to non-technical users.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includes hybrid deep learning models.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CNN, LSTM, or attention-based models can further improve detection.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489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</a:t>
            </a: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Paper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412954" y="1081549"/>
            <a:ext cx="11067845" cy="49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Said, Y.;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Alsheikhy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A.A.;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Lahza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Shawly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Detecting Phishing Websites through Improving Convolutional Neural Networks with Self-Attention Mechanism.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Ain Shams Eng. J.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2024,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102643. 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Adebowale, M.A.; Lwin, K.T.; Hossain, M.A. Intelligent Phishing Detection Scheme Using Deep Learning Algorithms.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Enterp. Inf. Manag.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2023,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747–766.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Atrees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M.; Ahmad, A.; Alghanim, F. Enhancing Detection of Malicious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Boosting and Lexical Features. 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Autom. Soft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2022,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1405–1422.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Xiao, X.; Xiao, W.; Zhang, D.; Zhang, B.; Hu, G.; Li, Q.; Xia, S. Phishing Websites Detection via CNN and Multi-Head Self-Attention on Imbalanced Datasets. 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2022,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102372.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Yerima, S.Y.;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Alzaylaee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M.K. High Accuracy Phishing Detection Based on Convolutional Neural Networks. In Proceedings of the ICCAIS 2020–3rd International Conference on Computer Applications and Information Security, Riyadh, Saudi Arabia, 19–21 March 2020.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1390</Words>
  <Application>Microsoft Office PowerPoint</Application>
  <PresentationFormat>Widescreen</PresentationFormat>
  <Paragraphs>165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</vt:lpstr>
      <vt:lpstr>Times New Roman</vt:lpstr>
      <vt:lpstr>Verdana</vt:lpstr>
      <vt:lpstr>Bioinformatics</vt:lpstr>
      <vt:lpstr>Identification of URL based attacks from IP data</vt:lpstr>
      <vt:lpstr>Abstract</vt:lpstr>
      <vt:lpstr>Literature Survey (IEEE Indexed)</vt:lpstr>
      <vt:lpstr>Literature Survey (IEEE Indexed)</vt:lpstr>
      <vt:lpstr>Objectives</vt:lpstr>
      <vt:lpstr>Existing Methods and Drawbacks</vt:lpstr>
      <vt:lpstr>Proposed Method &amp; Feasibility Study</vt:lpstr>
      <vt:lpstr>System Architecture</vt:lpstr>
      <vt:lpstr>Flowchart – URL Attack Detection</vt:lpstr>
      <vt:lpstr>Project Timeline (Gantt Chart)</vt:lpstr>
      <vt:lpstr>Working Output</vt:lpstr>
      <vt:lpstr>Continue</vt:lpstr>
      <vt:lpstr>Continue</vt:lpstr>
      <vt:lpstr>Continue</vt:lpstr>
      <vt:lpstr>Conclusion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Manohith Karnatakam</cp:lastModifiedBy>
  <cp:revision>55</cp:revision>
  <dcterms:modified xsi:type="dcterms:W3CDTF">2026-04-06T09:20:21Z</dcterms:modified>
</cp:coreProperties>
</file>